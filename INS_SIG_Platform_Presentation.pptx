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2E6DB4">
              <a:alpha val="70000"/>
            </a:srgbClr>
          </a:solidFill>
          <a:ln w="12700">
            <a:solidFill>
              <a:srgbClr val="2E6DB4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2E6DB4">
              <a:alpha val="80000"/>
            </a:srgbClr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692140"/>
            <a:ext cx="3657600" cy="7315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National de la Statistique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00" cy="0"/>
          </a:xfrm>
          <a:prstGeom prst="line">
            <a:avLst/>
          </a:prstGeom>
          <a:noFill/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PLATFORM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 Géographique Web Enterprise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Technique — Équipe Informatique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C873A">
              <a:alpha val="80000"/>
            </a:srgbClr>
          </a:solidFill>
          <a:ln w="12700">
            <a:solidFill>
              <a:srgbClr val="3C8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20240" y="420624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36791">
              <a:alpha val="80000"/>
            </a:srgbClr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83280" y="420624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3.4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420624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C382D">
              <a:alpha val="80000"/>
            </a:srgbClr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09360" y="420624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496ED">
              <a:alpha val="80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420624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09639">
              <a:alpha val="80000"/>
            </a:srgbClr>
          </a:solidFill>
          <a:ln w="12700">
            <a:solidFill>
              <a:srgbClr val="0096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 2026  •  Direction des Systèmes d'Information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Plan de la Présentation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029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2893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367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plateforme 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94560"/>
            <a:ext cx="502920" cy="7772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945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2494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Système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des composants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54680"/>
            <a:ext cx="502920" cy="7772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546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57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et choix techniques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114800"/>
            <a:ext cx="50292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14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169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5171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plateforme permet de faire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507492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5074920"/>
            <a:ext cx="50292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0749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51297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Authentification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54772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Argon2, Rate Limiting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123444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1234440"/>
            <a:ext cx="5029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234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80760" y="12893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Supervision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16367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Healthchecks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219456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2194560"/>
            <a:ext cx="502920" cy="7772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1945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80760" y="22494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Installation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2596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Ubuntu natif, Windows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0" y="315468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3154680"/>
            <a:ext cx="502920" cy="7772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1546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080760" y="3209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&amp; Identifiants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80760" y="3557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et comptes par défaut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41148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12700" dir="2700000">
              <a:srgbClr val="AAAAAA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86400" y="4114800"/>
            <a:ext cx="50292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4114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080760" y="4169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Prochaines Étapes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80760" y="45171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et évolutions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Contexte &amp; Objectifs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plateforme INS SIG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51206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9786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Problématique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Données géospatiales dispersées sans outil de centralisation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Absence d'interface web pour la visualisation cartographique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d'API standardisée pour l'accès aux données SIG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Outils existants coûteux et non adaptés aux besoins INS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monitoring ni de traçabilité des accès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18872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1188720"/>
            <a:ext cx="512064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19786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: INS SIG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97880" y="16002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Plateforme SIG web complète et centralisée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REST multi-fournisseurs (OSM, ESRI, Google Maps)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Studio cartographique interactif basé sur MapLibre GL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 open-source, déployable on-premise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temps réel avec Grafana &amp; Prometheus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Clés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3A6B">
              <a:alpha val="95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la donnée géospatiale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4160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3A6B">
              <a:alpha val="95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15468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haute performance avec cache Redis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4160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3A6B">
              <a:alpha val="95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4360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JWT &amp; audit complet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32520" y="4160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3A6B">
              <a:alpha val="95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732520" y="4709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&amp; métriques temps réel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Architecture de la Plateforme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6 services conteneurisés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4754880" cy="548640"/>
          </a:xfrm>
          <a:prstGeom prst="rect">
            <a:avLst/>
          </a:prstGeom>
          <a:solidFill>
            <a:srgbClr val="8E44AD">
              <a:alpha val="9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34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COUCHE CLIENT — Navigateur Web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783080"/>
            <a:ext cx="0" cy="3200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200400" y="2103120"/>
            <a:ext cx="4754880" cy="640080"/>
          </a:xfrm>
          <a:prstGeom prst="rect">
            <a:avLst/>
          </a:prstGeom>
          <a:solidFill>
            <a:srgbClr val="009639">
              <a:alpha val="90000"/>
            </a:srgbClr>
          </a:solidFill>
          <a:ln w="12700">
            <a:solidFill>
              <a:srgbClr val="0096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03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carto-frontend  |  Nginx 1.27  |  Port 8085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2743200"/>
            <a:ext cx="0" cy="3200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200400" y="3063240"/>
            <a:ext cx="475488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06324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carto-api  |  Node.js 20 / Express  |  Port 4000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3721608"/>
            <a:ext cx="-1645920" cy="5486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040880" y="3721608"/>
            <a:ext cx="1645920" cy="54864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65760" y="4297680"/>
            <a:ext cx="3657600" cy="822960"/>
          </a:xfrm>
          <a:prstGeom prst="rect">
            <a:avLst/>
          </a:prstGeom>
          <a:solidFill>
            <a:srgbClr val="336791">
              <a:alpha val="90000"/>
            </a:srgbClr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97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carto-postgis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PostGIS 3.4 | Port 5432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4297680"/>
            <a:ext cx="3657600" cy="822960"/>
          </a:xfrm>
          <a:prstGeom prst="rect">
            <a:avLst/>
          </a:prstGeom>
          <a:solidFill>
            <a:srgbClr val="DC382D">
              <a:alpha val="90000"/>
            </a:srgbClr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4297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carto-redis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Alpine | Port 6379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123444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1234440"/>
            <a:ext cx="256032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MONITORING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" y="16002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9090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5760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 : carto-internal-net + carto-public-net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Stack Technologique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open-source enterprise-grade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C873A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2606040" cy="64008"/>
          </a:xfrm>
          <a:prstGeom prst="rect">
            <a:avLst/>
          </a:prstGeom>
          <a:solidFill>
            <a:srgbClr val="3C873A"/>
          </a:solidFill>
          <a:ln w="12700">
            <a:solidFill>
              <a:srgbClr val="3C8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" y="16733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9476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API Gateway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 Modules • Express 4 • Async/Await natif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12344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63240" y="1234440"/>
            <a:ext cx="2606040" cy="64008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72968" y="16733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72968" y="19476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principale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connexions • Migrations versionées • ACID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12344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1234440"/>
            <a:ext cx="2606040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61888" y="16733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3.4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19476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géospatiale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Géométries 2D/3D • Requêtes spatiales SQL • GeoJSON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41080" y="12344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382D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41080" y="1234440"/>
            <a:ext cx="2606040" cy="64008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080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750808" y="16733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50808" y="19476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Rate Limiting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par type • LRU eviction • Auth par mot de passe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39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49040"/>
            <a:ext cx="2606040" cy="640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84048" y="41879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44622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&amp; Static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• Cache headers • Proxy upstream • SPA fallback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63240" y="37490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96ED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63240" y="3749040"/>
            <a:ext cx="2606040" cy="640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172968" y="41879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72968" y="44622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conteneurs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• Healthchecks • Volumes persistants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52160" y="37490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52160" y="3749040"/>
            <a:ext cx="26060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61888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961888" y="41879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61888" y="44622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métriques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10s • Métriques API • Alerting configurable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41080" y="3749040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6800"/>
            </a:solidFill>
            <a:prstDash val="solid"/>
          </a:ln>
          <a:effectLst>
            <a:outerShdw sx="100000" sy="100000" kx="0" ky="0" algn="bl" rotWithShape="0" blurRad="76200" dist="25400" dir="2700000">
              <a:srgbClr val="999999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641080" y="3749040"/>
            <a:ext cx="2606040" cy="64008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50808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750808" y="41879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10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50808" y="4462272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Prometheus • Dashboards temps réel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Fonctionnalités Clés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plateforme permet de faire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539496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801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Studio Cartographique Web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Interface MapLibre GL JS interactive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Basemaps : OSM, ESRI, MapTiler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Dessin et édition de géométries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Import GeoJSON / KML / Shapefile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 et partage de cartes
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123444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1234440"/>
            <a:ext cx="5394960" cy="4572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2801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API REST Multi-Fournisseurs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Tuiles raster &amp; vectorielles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Géocodage Nominatim / Google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Géocodage inversé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Documentation Swagger interactive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ETag &amp; cache HTTP intégré
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53949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404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Gestion Données Spatiales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Stockage PostGIS avec index spatial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CRUD couches géographiques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Requêtes spatiales avancées (ST_)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Import en masse de datasets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 des projections (EPSG)
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379476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97880" y="3794760"/>
            <a:ext cx="539496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8404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Gestion Utilisateurs &amp; API Keys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42976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Authentification JWT (Access + Refresh)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Rôles : admin / analyst / viewer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Tokens API avec expiration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log complet des actions
</a:t>
            </a:r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 des sessions actives
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Sécurité &amp; Authentification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sécurité multicouche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34440"/>
            <a:ext cx="356616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44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1344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856232"/>
            <a:ext cx="32918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4767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15min · Refresh token 7j · Secrets HS256 ≥ 64 chars · Rotation automatique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23360" y="12344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234440"/>
            <a:ext cx="356616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344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45152" y="1344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1856232"/>
            <a:ext cx="32918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94767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Argon2id (résistant GPU) · m=65536, t=3, p=4 · Sel unique par hash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12344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234440"/>
            <a:ext cx="356616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344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🚦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94192" y="1344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par IP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9560" y="1856232"/>
            <a:ext cx="32918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194767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· Fenêtre glissante · 429 Too Many Requests · Protection brute-force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3566160" cy="6400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67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🪖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96112" y="3767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Security Headers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279392"/>
            <a:ext cx="32918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37083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 · X-Content-Type-Options · X-XSS-Protection · Referrer-Policy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365760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3657600"/>
            <a:ext cx="35661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3767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45152" y="3767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Complet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60520" y="4279392"/>
            <a:ext cx="32918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437083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security_audit_logs · Login success/fail · IP tracée · Sévérité INFO/WARNING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72400" y="365760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3657600"/>
            <a:ext cx="3566160" cy="640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767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394192" y="3767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909560" y="4279392"/>
            <a:ext cx="32918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437083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dans .env (jamais en dur) · Fichier 600 · JWT auto-régénéré à l'install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 &amp; Supervision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complète de la plateforme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530352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52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Prometheus  —  Port 9090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Scraping toutes les 10 secondes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Métriques API : latence, req/s, codes HTTP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Métriques Redis : connexions, mémoire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Métriques système : CPU, RAM, I/O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Rétention configurable des séries temporelles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 web native : http://localhost:9090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configurés :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carto-api       → /api/metrics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carto-redis     → port 6379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prometheus      → auto-monitoring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23444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6800"/>
            </a:solidFill>
            <a:prstDash val="solid"/>
          </a:ln>
          <a:effectLst>
            <a:outerShdw sx="100000" sy="100000" kx="0" ky="0" algn="bl" rotWithShape="0" blurRad="63500" dist="25400" dir="2700000">
              <a:srgbClr val="CCCCC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1234440"/>
            <a:ext cx="5303520" cy="41148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252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Grafana 10  —  Port 3000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1719072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Dashboards temps réel pré-configurés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Prometheus intégrée automatiquement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Alertes email / webhook configurables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Authentification admin sécurisée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Accès : http://localhost:3000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disponibles :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Requêtes API par minute (req/s)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Latence P50 / P95 / P99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Taux d'erreurs HTTP 4xx / 5xx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Utilisation mémoire Redis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5669280"/>
            <a:ext cx="10881360" cy="457200"/>
          </a:xfrm>
          <a:prstGeom prst="rect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568756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Healthchecks Docker natifs : carto-postgis · carto-redis · carto-api · carto-frontend  —  Intervalle : 10-30s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Déploiement &amp; Installation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modes de déploiement disponibles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35204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96ED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3520440" cy="5029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0515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0515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Ubuntu + Docker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1828800"/>
            <a:ext cx="3319272" cy="320040"/>
          </a:xfrm>
          <a:prstGeom prst="rect">
            <a:avLst/>
          </a:prstGeom>
          <a:solidFill>
            <a:srgbClr val="2496ED">
              <a:alpha val="15000"/>
            </a:srgbClr>
          </a:solidFill>
          <a:ln w="12700">
            <a:solidFill>
              <a:srgbClr val="2496E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install_docker_ubuntu.sh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Installe Docker Engine automatiquement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Construit toutes les images Docker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0266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Démarre les 6 conteneurs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4198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Exécute les migrations BDD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813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Génère JWT secrets sécurisés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5669280"/>
            <a:ext cx="3319272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5669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./install_docker_ubuntu.sh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77640" y="1234440"/>
            <a:ext cx="35204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1234440"/>
            <a:ext cx="35204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0515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0515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87368" y="12801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Ubuntu Natif (sans Docker)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87368" y="1828800"/>
            <a:ext cx="3319272" cy="32004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install_native_ubuntu.sh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Installe Node.js 20, PostgreSQL 16, PostGIS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Installe Redis 7 et Nginx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0" y="30266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Configure les services systemd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34198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Crée l'utilisateur système "carto"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0" y="3813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Déploie dans /opt/carto_platform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87368" y="5669280"/>
            <a:ext cx="3319272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5669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./install_native_ubuntu.sh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680960" y="1234440"/>
            <a:ext cx="35204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80960" y="1234440"/>
            <a:ext cx="3520440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04120" y="10515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04120" y="10515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790688" y="12801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Windows + Docker Desktop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90688" y="1828800"/>
            <a:ext cx="3319272" cy="320040"/>
          </a:xfrm>
          <a:prstGeom prst="rect">
            <a:avLst/>
          </a:prstGeom>
          <a:solidFill>
            <a:srgbClr val="2E6DB4">
              <a:alpha val="15000"/>
            </a:srgbClr>
          </a:solidFill>
          <a:ln w="12700">
            <a:solidFill>
              <a:srgbClr val="2E6DB4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install_windows.ps1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81812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Vérifie Docker Desktop (déjà installé)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1812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Configure le fichier .env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18120" y="30266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Lance docker compose up --build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18120" y="34198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Attend la santé des services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18120" y="3813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Exécute les migrations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790688" y="5669280"/>
            <a:ext cx="3319272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45552" y="5669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.\install_windows.ps1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Accès &amp; Identifiants par Défaut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des services et comptes d'accès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8288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34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48840" y="1234440"/>
            <a:ext cx="347472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1234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1234440"/>
            <a:ext cx="164592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2344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0920" y="1234440"/>
            <a:ext cx="23774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4072" y="1234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618488"/>
            <a:ext cx="10607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618488"/>
            <a:ext cx="54864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61848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Studio SIG Web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21992" y="16184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42432" y="161848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adminCarto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34072" y="161848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AdminCarto2026!Secure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276856"/>
            <a:ext cx="10607040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276856"/>
            <a:ext cx="54864" cy="62179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27685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API REST / Swagger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21992" y="227685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http://localhost:4000/api/docs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42432" y="227685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JWT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34072" y="227685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935224"/>
            <a:ext cx="10607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935224"/>
            <a:ext cx="54864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3522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Healthcheck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21992" y="2935224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http://localhost:4000/api/health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2432" y="2935224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34072" y="293522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593592"/>
            <a:ext cx="10607040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593592"/>
            <a:ext cx="54864" cy="621792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9359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Grafana Supervision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221992" y="359359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42432" y="359359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34072" y="359359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GrafanaCarto2026!Pass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251960"/>
            <a:ext cx="10607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251960"/>
            <a:ext cx="54864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2519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Prometheus Métriques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221992" y="425196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http://localhost:9090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42432" y="425196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34072" y="425196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910328"/>
            <a:ext cx="10607040" cy="621792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4910328"/>
            <a:ext cx="54864" cy="6217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91032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PostgreSQL (direct)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221992" y="491032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127.0.0.1:5432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42432" y="491032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carto_user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34072" y="49103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(voir .env)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5669280"/>
            <a:ext cx="1060704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56784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Ces identifiants sont les valeurs par défaut. Modifier le fichier .env avant tout déploiement en production.  Référence complète : CREDENTIALS.md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77940"/>
            <a:ext cx="12192000" cy="480060"/>
          </a:xfrm>
          <a:prstGeom prst="rect">
            <a:avLst/>
          </a:prstGeom>
          <a:solidFill>
            <a:srgbClr val="1B3A6B">
              <a:alpha val="9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Conclusion &amp; Prochaines Étapes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et évolutions planifiées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|  Institut National de la Statistique — Tunisie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12700" dir="2700000">
              <a:srgbClr val="CCCCC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53035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527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Acquis — v1.0 (Actuelle)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719072"/>
            <a:ext cx="5120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REST multi-fournisseurs complète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Studio cartographique web interactif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Authentification JWT + Argon2id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Cache Redis avec TTL intelligent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PostgreSQL + PostGIS opérationnel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Monitoring Prometheus + Grafana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Scripts installation multi-OS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Documentation Swagger interactive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1234440"/>
            <a:ext cx="5303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234440"/>
            <a:ext cx="914400" cy="157276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234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205740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76288" y="1371600"/>
            <a:ext cx="4160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(TOTP / SMS)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LDAP / Active Directory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fine des permissions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2926080"/>
            <a:ext cx="5303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926080"/>
            <a:ext cx="914400" cy="15727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926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374904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76288" y="3063240"/>
            <a:ext cx="4160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PDF cartographique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Shapefile ZIP natif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WMS/WFS externe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617720"/>
            <a:ext cx="5303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4617720"/>
            <a:ext cx="914400" cy="15727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46177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0" y="54406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76288" y="4754880"/>
            <a:ext cx="4160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spatiale avancée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statistiques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617720"/>
            <a:ext cx="10607040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091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La plateforme INS SIG v1.0 est déjà opérationnelle et prête pour la production.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166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fournit une base solide, sécurisée et extensible pour tous les besoins cartographiques de l'INS.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2E6DB4">
              <a:alpha val="70000"/>
            </a:srgbClr>
          </a:solidFill>
          <a:ln w="12700">
            <a:solidFill>
              <a:srgbClr val="2E6DB4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2E6DB4">
              <a:alpha val="80000"/>
            </a:srgbClr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692140"/>
            <a:ext cx="3657600" cy="7315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4754880" cy="54864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103120" y="2971800"/>
            <a:ext cx="1828800" cy="868680"/>
          </a:xfrm>
          <a:prstGeom prst="rect">
            <a:avLst/>
          </a:prstGeom>
          <a:solidFill>
            <a:srgbClr val="2E6DB4">
              <a:alpha val="7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SIG Web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0" y="2971800"/>
            <a:ext cx="1828800" cy="868680"/>
          </a:xfrm>
          <a:prstGeom prst="rect">
            <a:avLst/>
          </a:prstGeom>
          <a:solidFill>
            <a:srgbClr val="2E6DB4">
              <a:alpha val="7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http://localhost:4000/api/docs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2971800"/>
            <a:ext cx="1828800" cy="868680"/>
          </a:xfrm>
          <a:prstGeom prst="rect">
            <a:avLst/>
          </a:prstGeom>
          <a:solidFill>
            <a:srgbClr val="2E6DB4">
              <a:alpha val="7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138160" y="2971800"/>
            <a:ext cx="1828800" cy="868680"/>
          </a:xfrm>
          <a:prstGeom prst="rect">
            <a:avLst/>
          </a:prstGeom>
          <a:solidFill>
            <a:srgbClr val="2E6DB4">
              <a:alpha val="7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adminCarto / AdminCarto2026!Secure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58521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SIG PLATFORM v1.0  •  Institut National de la Statistique — Tunisie  •  Octobre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Institut National de la Statistique — Tunisie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 SIG Platform v1.0</dc:title>
  <dc:subject>INS SIG PLATFORM v1.0 — Présentation Technique</dc:subject>
  <dc:creator>INS Tunisie — Direction Informatique</dc:creator>
  <cp:lastModifiedBy>INS Tunisie — Direction Informatique</cp:lastModifiedBy>
  <cp:revision>1</cp:revision>
  <dcterms:created xsi:type="dcterms:W3CDTF">2026-10-03T13:31:43Z</dcterms:created>
  <dcterms:modified xsi:type="dcterms:W3CDTF">2026-10-03T13:31:43Z</dcterms:modified>
</cp:coreProperties>
</file>